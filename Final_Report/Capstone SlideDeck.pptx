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1" r:id="rId4"/>
    <p:sldId id="262" r:id="rId5"/>
    <p:sldId id="272" r:id="rId6"/>
    <p:sldId id="273" r:id="rId7"/>
    <p:sldId id="274" r:id="rId8"/>
    <p:sldId id="265" r:id="rId9"/>
    <p:sldId id="263" r:id="rId10"/>
    <p:sldId id="277" r:id="rId11"/>
    <p:sldId id="269" r:id="rId12"/>
    <p:sldId id="271" r:id="rId13"/>
    <p:sldId id="278" r:id="rId14"/>
    <p:sldId id="267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>
        <p:scale>
          <a:sx n="100" d="100"/>
          <a:sy n="100" d="100"/>
        </p:scale>
        <p:origin x="3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BFF2-A40B-6842-9894-F15663B18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36908-3069-434B-96D5-01C578029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EAB56-25D5-3C49-996E-B3D7E1C3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E97BD-0249-564D-A5C4-CEB70D5E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49EDB-A373-664E-A442-A6DF43AC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05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ECC9-EA2C-6740-9975-FBB0B286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D25D8-1A70-DF40-962D-DDA179275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79B4F-00E1-A647-A220-E0E9357B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E17D-E9F5-1847-9753-95722410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92C43-414E-8E45-8D68-9572766E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6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86E7-D7B6-FD44-A692-806F5AEE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E71DC-2A2D-794C-A5D9-E57DA732B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A3CEF-E8C0-5D4D-B94A-20E1B83D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3E12-04DB-BA44-9B5C-26C08A34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5E42D-D9D9-B443-BD1D-E99C9DBF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5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CF41-7745-BF47-895D-D2521A62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E2F5-33C8-A24F-A336-B7441A385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27632-47E6-6D43-B021-008FB035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89E59-1F29-B242-8803-3A4DEFC6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AC5DF-3966-B940-BF3D-976CFBCB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A82D9-3750-A34B-9DFD-5DB57B4E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5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C063-9E1A-7B42-8D2E-29F3F8A1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491A9-574E-BC4F-A16E-9E1952DFD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08633-F5AC-984B-A74F-975EA1A34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A3A69-DBD0-D44A-898B-72FDDB1C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79E9F-E753-8749-931E-6AE11AA7A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5F2BC1-0B28-A344-9858-5AA4ADFC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1B3CE-F5B0-BF49-B6A9-8126F184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29661-A450-634C-AA2E-0BFA54A9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7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3F02-E63C-0348-8A0C-95BD7C5D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2CA4E-AC24-3741-B54E-C2B5CFB2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4B5D8-3128-DC46-9691-BB3C7F33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DEBA3-34D2-8741-A4F5-9EAD98B9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0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FC23-2749-DC4C-BA3B-408CFE2B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40790-C4FE-8245-AE86-8E6B737C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0A1C-5145-C440-84E3-95A2C73C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1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99DC-760B-844B-B422-0A5C77CE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32A2-7E29-1B4E-A3ED-AAD2DB2D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B2704-95C5-7747-9AB8-E16763F5E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F3AAF-7C54-C94E-9FD9-9B23649E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CE6B-1974-5F46-92F4-C9D927A1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7E2D6-5624-DE4C-929A-C8310CEC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5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E85E-A5A9-D047-BB95-A52DE17C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060DE-FACD-E24D-B65B-080ECF347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96C7F-A890-B744-8E84-C3D749C0E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6238A-9D9B-184B-B006-0A16F743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B0B05-C8D1-814D-942A-99CFFEB7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6DE33-07E2-4648-B88D-22210ED8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9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30DF-1661-954D-A36A-1BE26A18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26EBE-8E02-DB43-99EA-AB5D6DE22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FAD2-2CF1-3448-A195-90290B9ED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0AFA-DDF7-0947-A3DB-683F596F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6E944-3F88-3E40-8EDA-BFB47DB2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5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A218C-AB78-AC4B-8971-8C1AB145C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3F509-B567-9442-B0E5-218A5AE63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D42C-A75B-874D-9708-4E1C3041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85F89-DE71-5E4B-8F93-0B9A6392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6CA7-E78B-7C40-9248-70D3133C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2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8C766-E566-DC49-B77E-90344C172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E9432-AFF6-204A-AC2A-5F87E2435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3B2CC-52D7-6845-B6A7-63C26BFA3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CA8D3-7D5E-484B-8DFD-30780A2B33F0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DEED-55CF-664E-AFF2-8F4A9BC0C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F04FE-C815-4940-AEE4-9D3CC01AA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AEF5-215B-BE4F-B5C9-B60A5C2C4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C47C2-33A2-44B2-BEAB-FEB679075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3324"/>
            <a:ext cx="12192000" cy="686132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AD182BA8-54AD-4D9F-8264-B0FA8BB4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4ED83379-0499-45E1-AB78-6AA230F9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DD675-A595-A349-B98A-73449884C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962246"/>
            <a:ext cx="6437700" cy="2611967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/>
              <a:t>Reducing Serious Pedestrian Accidents in Chapel Hill, NC: </a:t>
            </a:r>
            <a:br>
              <a:rPr lang="en-US" sz="5400" dirty="0"/>
            </a:br>
            <a:br>
              <a:rPr lang="en-US" sz="2000" i="1" dirty="0"/>
            </a:br>
            <a:r>
              <a:rPr lang="en-US" sz="2000" i="1" dirty="0"/>
              <a:t>A Fictional North Carolina Pedestrian Crash Case Study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87CC2-69B8-B444-9548-961E6C03E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719618"/>
            <a:ext cx="4167376" cy="1155525"/>
          </a:xfrm>
        </p:spPr>
        <p:txBody>
          <a:bodyPr anchor="t">
            <a:normAutofit/>
          </a:bodyPr>
          <a:lstStyle/>
          <a:p>
            <a:pPr algn="l"/>
            <a:r>
              <a:rPr lang="en-US" sz="2000" dirty="0"/>
              <a:t>Geoffrey Chambers</a:t>
            </a:r>
          </a:p>
          <a:p>
            <a:pPr algn="l"/>
            <a:r>
              <a:rPr lang="en-US" sz="2000" dirty="0"/>
              <a:t>Springboard Capstone 2</a:t>
            </a:r>
          </a:p>
        </p:txBody>
      </p:sp>
      <p:pic>
        <p:nvPicPr>
          <p:cNvPr id="1026" name="Picture 2" descr="What to Do After a Car Hit You as a Pedestrian | Boohoff Law P.A.">
            <a:extLst>
              <a:ext uri="{FF2B5EF4-FFF2-40B4-BE49-F238E27FC236}">
                <a16:creationId xmlns:a16="http://schemas.microsoft.com/office/drawing/2014/main" id="{5D0B5D6E-8DB3-3642-B887-AF3AF12A42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84"/>
          <a:stretch/>
        </p:blipFill>
        <p:spPr bwMode="auto">
          <a:xfrm>
            <a:off x="7791289" y="1555369"/>
            <a:ext cx="3951880" cy="312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942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General Accident Information in NC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1" y="2021249"/>
            <a:ext cx="5871518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Every year there are about 250,000 car accidents in North Carolina.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Of those, about 3000 (1.2%) involve pedestrians.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Fortunately, a minority (13%) of those are accidents involve serious injuries or death.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8" name="Picture 7" descr="Map&#10;&#10;Description automatically generated">
            <a:extLst>
              <a:ext uri="{FF2B5EF4-FFF2-40B4-BE49-F238E27FC236}">
                <a16:creationId xmlns:a16="http://schemas.microsoft.com/office/drawing/2014/main" id="{1BEE6752-B93A-FF4C-9BCF-1D7BE19C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071" y="1690688"/>
            <a:ext cx="4780004" cy="4239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BD6AEE-B0D1-2D4B-B4D7-60F260D19A7A}"/>
              </a:ext>
            </a:extLst>
          </p:cNvPr>
          <p:cNvSpPr/>
          <p:nvPr/>
        </p:nvSpPr>
        <p:spPr>
          <a:xfrm>
            <a:off x="7138321" y="5930578"/>
            <a:ext cx="4287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Locations of Pedestrian-involved accidents in Chapel Hill, NC between 2008 and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01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Pedestrian-Vehicle Accidents in NC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1" y="2021249"/>
            <a:ext cx="4738874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Incidents involving motor vehicles and pedestrians have been increasing over the past decade in North Carolina.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8E4C4C7-EB45-1549-BF69-356A03164C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65" y="2021249"/>
            <a:ext cx="5804434" cy="3869623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158807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Serious Accidents in NC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2021249"/>
            <a:ext cx="4427273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Serious accidents have kept pace with the overall number of accidents.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76B960-64F5-7949-AEDA-485A42CFF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993" y="2021249"/>
            <a:ext cx="5772807" cy="384853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430108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Chapel Hill, North Carolina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2021249"/>
            <a:ext cx="4427273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North Carolina’s flagship campus.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Population approximately 60,000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Normal Enrollment 30,000 total students.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A bell tower in the night with lit up archways at the base and a clock near the top of the tower.">
            <a:extLst>
              <a:ext uri="{FF2B5EF4-FFF2-40B4-BE49-F238E27FC236}">
                <a16:creationId xmlns:a16="http://schemas.microsoft.com/office/drawing/2014/main" id="{7FB6EE71-D3E5-D742-B508-AB74ABDD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291" y="1690688"/>
            <a:ext cx="21590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large building with many windows and four columns on the front.">
            <a:extLst>
              <a:ext uri="{FF2B5EF4-FFF2-40B4-BE49-F238E27FC236}">
                <a16:creationId xmlns:a16="http://schemas.microsoft.com/office/drawing/2014/main" id="{D5B32789-1E0C-9A44-AC60-52DCD78F5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673" y="1690688"/>
            <a:ext cx="2794000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3DDBBC0-E4AC-2A42-B763-D6EB9F3F1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673" y="3937001"/>
            <a:ext cx="27940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845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Pedestrian-Vehicle Accidents in NC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1" y="2021249"/>
            <a:ext cx="4738874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Pedestrian accidents in Chapel Hill have been relatively steady, with a steady increase in recent years.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Serious accidents in Chapel Hill have been relatively static.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8" name="Picture 7" descr="Icon&#10;&#10;Description automatically generated with medium confidence">
            <a:extLst>
              <a:ext uri="{FF2B5EF4-FFF2-40B4-BE49-F238E27FC236}">
                <a16:creationId xmlns:a16="http://schemas.microsoft.com/office/drawing/2014/main" id="{DCBE2FC5-2CAC-8647-AADD-EFB3ACB3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615" y="1690688"/>
            <a:ext cx="5486400" cy="36576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760293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2021249"/>
            <a:ext cx="10515599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City (Client) Objective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FFFFFF"/>
                </a:solidFill>
              </a:rPr>
              <a:t>Introduce preventative policies to keep the proportion of pedestrian accidents that are serious low.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rgbClr val="FFFFFF"/>
              </a:solidFill>
            </a:endParaRP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Data Science Goal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FFFFFF"/>
                </a:solidFill>
              </a:rPr>
              <a:t>Predict the impact of various proposed policies on the proportion of pedestrian accidents in Chapel Hill that are serious.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525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Policies to Reduce Serious Accident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2021249"/>
            <a:ext cx="4427273" cy="41557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Place traffic controls in accident locations where none was present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Reduce the speed limits in 30-45 mph zones by 10 mph.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Introduce policies that decrease the prevalence of impaired driving.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Introduce policies that decrease young drivership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5122" name="Picture 2" descr="Here's Why Stopping at Stop Signs is So Important">
            <a:extLst>
              <a:ext uri="{FF2B5EF4-FFF2-40B4-BE49-F238E27FC236}">
                <a16:creationId xmlns:a16="http://schemas.microsoft.com/office/drawing/2014/main" id="{C4BD33F0-3BEC-5B40-8D43-9F17A2CF3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03" y="1955597"/>
            <a:ext cx="2625275" cy="174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ayetteville testing lower speed limit in Wilson Park neighborhood">
            <a:extLst>
              <a:ext uri="{FF2B5EF4-FFF2-40B4-BE49-F238E27FC236}">
                <a16:creationId xmlns:a16="http://schemas.microsoft.com/office/drawing/2014/main" id="{9D2B6925-0A3E-D542-B5E8-77A95D644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/>
          <a:stretch/>
        </p:blipFill>
        <p:spPr bwMode="auto">
          <a:xfrm>
            <a:off x="8728525" y="1968411"/>
            <a:ext cx="2625275" cy="173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ays to Prevent Drinking and Driving">
            <a:extLst>
              <a:ext uri="{FF2B5EF4-FFF2-40B4-BE49-F238E27FC236}">
                <a16:creationId xmlns:a16="http://schemas.microsoft.com/office/drawing/2014/main" id="{13E0E3D8-2FDE-A94B-941E-5A2EB7CDD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" r="8867"/>
          <a:stretch/>
        </p:blipFill>
        <p:spPr bwMode="auto">
          <a:xfrm>
            <a:off x="5873703" y="3895311"/>
            <a:ext cx="2625275" cy="18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Teen Driver? Check Out this List of Safest Used Cars for New Drivers | Dan  Cummins">
            <a:extLst>
              <a:ext uri="{FF2B5EF4-FFF2-40B4-BE49-F238E27FC236}">
                <a16:creationId xmlns:a16="http://schemas.microsoft.com/office/drawing/2014/main" id="{761CAA98-AC2D-5C45-B18E-BA70CF62EB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" t="7465" r="12261" b="-12104"/>
          <a:stretch/>
        </p:blipFill>
        <p:spPr bwMode="auto">
          <a:xfrm>
            <a:off x="8728525" y="3895311"/>
            <a:ext cx="2625275" cy="214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44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Method/Strategy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Obtain pedestrian-car crash data from NCDOT.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Data contains dates, locations, demographics, etc.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Organize data for classification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Target: determine given accident parameters, (i.e. traffic controlled, speed limit, etc.) is the accident serious?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Train classifier models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Predict the effects of changes on serious accident incidence using trained model.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992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Data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NCDOT Crash Severity Labels Reduced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Original Labels: No injury, suspected minor injury, possible injury, suspected serious injury, and killed.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New Label: No/Non-serious injury &amp; serious injury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Several features, such as vehicle type, were reduced to 2-3 categories.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Vehicle type : van, car, motorcycle, etc. -&gt; small or large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10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Results: Gradient Boosting Classifier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FA5B8C-8B45-A14F-B9E1-75541BCC7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6723"/>
              </p:ext>
            </p:extLst>
          </p:nvPr>
        </p:nvGraphicFramePr>
        <p:xfrm>
          <a:off x="1023379" y="3293053"/>
          <a:ext cx="433739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9027">
                  <a:extLst>
                    <a:ext uri="{9D8B030D-6E8A-4147-A177-3AD203B41FA5}">
                      <a16:colId xmlns:a16="http://schemas.microsoft.com/office/drawing/2014/main" val="2106236836"/>
                    </a:ext>
                  </a:extLst>
                </a:gridCol>
                <a:gridCol w="1321102">
                  <a:extLst>
                    <a:ext uri="{9D8B030D-6E8A-4147-A177-3AD203B41FA5}">
                      <a16:colId xmlns:a16="http://schemas.microsoft.com/office/drawing/2014/main" val="1983131883"/>
                    </a:ext>
                  </a:extLst>
                </a:gridCol>
                <a:gridCol w="833423">
                  <a:extLst>
                    <a:ext uri="{9D8B030D-6E8A-4147-A177-3AD203B41FA5}">
                      <a16:colId xmlns:a16="http://schemas.microsoft.com/office/drawing/2014/main" val="1433669458"/>
                    </a:ext>
                  </a:extLst>
                </a:gridCol>
                <a:gridCol w="1123845">
                  <a:extLst>
                    <a:ext uri="{9D8B030D-6E8A-4147-A177-3AD203B41FA5}">
                      <a16:colId xmlns:a16="http://schemas.microsoft.com/office/drawing/2014/main" val="1441547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Train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Precision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Recall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F1-Score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0489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Non-Serious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0.95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0.77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0.85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232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Serious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0.34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0.74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0.47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095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Accuracy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0.77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723349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4DB471-DE5C-0244-85FF-F3258D9F7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027978"/>
              </p:ext>
            </p:extLst>
          </p:nvPr>
        </p:nvGraphicFramePr>
        <p:xfrm>
          <a:off x="6198177" y="4113146"/>
          <a:ext cx="4333913" cy="13716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279197">
                  <a:extLst>
                    <a:ext uri="{9D8B030D-6E8A-4147-A177-3AD203B41FA5}">
                      <a16:colId xmlns:a16="http://schemas.microsoft.com/office/drawing/2014/main" val="4158059888"/>
                    </a:ext>
                  </a:extLst>
                </a:gridCol>
                <a:gridCol w="1044424">
                  <a:extLst>
                    <a:ext uri="{9D8B030D-6E8A-4147-A177-3AD203B41FA5}">
                      <a16:colId xmlns:a16="http://schemas.microsoft.com/office/drawing/2014/main" val="1080279378"/>
                    </a:ext>
                  </a:extLst>
                </a:gridCol>
                <a:gridCol w="885528">
                  <a:extLst>
                    <a:ext uri="{9D8B030D-6E8A-4147-A177-3AD203B41FA5}">
                      <a16:colId xmlns:a16="http://schemas.microsoft.com/office/drawing/2014/main" val="1192739202"/>
                    </a:ext>
                  </a:extLst>
                </a:gridCol>
                <a:gridCol w="1124764">
                  <a:extLst>
                    <a:ext uri="{9D8B030D-6E8A-4147-A177-3AD203B41FA5}">
                      <a16:colId xmlns:a16="http://schemas.microsoft.com/office/drawing/2014/main" val="1009265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Chapel Hill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Precision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Recall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F1-Score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8941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Non-Serious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0.95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0.92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0.94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5623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Serious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0.35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0.42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9835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Accuracy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0.89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80551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121197-D0DC-614D-87D8-8ECEB7E2A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228676"/>
              </p:ext>
            </p:extLst>
          </p:nvPr>
        </p:nvGraphicFramePr>
        <p:xfrm>
          <a:off x="1023379" y="4863158"/>
          <a:ext cx="433739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9027">
                  <a:extLst>
                    <a:ext uri="{9D8B030D-6E8A-4147-A177-3AD203B41FA5}">
                      <a16:colId xmlns:a16="http://schemas.microsoft.com/office/drawing/2014/main" val="2581505040"/>
                    </a:ext>
                  </a:extLst>
                </a:gridCol>
                <a:gridCol w="1321102">
                  <a:extLst>
                    <a:ext uri="{9D8B030D-6E8A-4147-A177-3AD203B41FA5}">
                      <a16:colId xmlns:a16="http://schemas.microsoft.com/office/drawing/2014/main" val="1619763103"/>
                    </a:ext>
                  </a:extLst>
                </a:gridCol>
                <a:gridCol w="833423">
                  <a:extLst>
                    <a:ext uri="{9D8B030D-6E8A-4147-A177-3AD203B41FA5}">
                      <a16:colId xmlns:a16="http://schemas.microsoft.com/office/drawing/2014/main" val="3707613170"/>
                    </a:ext>
                  </a:extLst>
                </a:gridCol>
                <a:gridCol w="1123845">
                  <a:extLst>
                    <a:ext uri="{9D8B030D-6E8A-4147-A177-3AD203B41FA5}">
                      <a16:colId xmlns:a16="http://schemas.microsoft.com/office/drawing/2014/main" val="2434525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Precision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Recall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F1-Score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821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Non-Serious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0.93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0.76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0.84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838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Serious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0.33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0.69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0.44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6845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Accuracy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0.75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48278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452D48-EC3C-1D4D-AB41-7FF9D495B78F}"/>
              </a:ext>
            </a:extLst>
          </p:cNvPr>
          <p:cNvSpPr txBox="1"/>
          <p:nvPr/>
        </p:nvSpPr>
        <p:spPr>
          <a:xfrm>
            <a:off x="1387929" y="2707556"/>
            <a:ext cx="3608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Model Fitting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84CC1-E7FE-5C47-8347-333A31E5FA52}"/>
              </a:ext>
            </a:extLst>
          </p:cNvPr>
          <p:cNvSpPr txBox="1"/>
          <p:nvPr/>
        </p:nvSpPr>
        <p:spPr>
          <a:xfrm>
            <a:off x="6253144" y="3517188"/>
            <a:ext cx="4223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Model Prediction on Chapel Hill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4B3B41-9432-6847-A46C-2D3C3CE8F892}"/>
              </a:ext>
            </a:extLst>
          </p:cNvPr>
          <p:cNvSpPr/>
          <p:nvPr/>
        </p:nvSpPr>
        <p:spPr>
          <a:xfrm>
            <a:off x="931005" y="1888107"/>
            <a:ext cx="9321206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Model Selected with a balance of recall score and accuracy.</a:t>
            </a:r>
          </a:p>
        </p:txBody>
      </p:sp>
    </p:spTree>
    <p:extLst>
      <p:ext uri="{BB962C8B-B14F-4D97-AF65-F5344CB8AC3E}">
        <p14:creationId xmlns:p14="http://schemas.microsoft.com/office/powerpoint/2010/main" val="2460274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Proposed Policies and Prediction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Create a representative sample base of Chapel Hill</a:t>
            </a:r>
          </a:p>
          <a:p>
            <a:pPr marL="971550" lvl="1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Incidents from Chapel Hill were sampled 10,000 times with replacement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Get a baseline prediction of serious accidents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Change the samples according to policy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Predict number of serious accidents.</a:t>
            </a:r>
          </a:p>
        </p:txBody>
      </p:sp>
    </p:spTree>
    <p:extLst>
      <p:ext uri="{BB962C8B-B14F-4D97-AF65-F5344CB8AC3E}">
        <p14:creationId xmlns:p14="http://schemas.microsoft.com/office/powerpoint/2010/main" val="3499419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Proposed Policies and Prediction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Traffic Controls</a:t>
            </a:r>
          </a:p>
          <a:p>
            <a:pPr marL="971550" lvl="1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Converted all incidents without traffic controls to with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Reducing Speed Limits</a:t>
            </a:r>
          </a:p>
          <a:p>
            <a:pPr marL="971550" lvl="1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Incidents with speed limits of 45/40 and 35/30 were converted to 35/30 and 25/20 respectively.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Reducing Impaired Driving</a:t>
            </a:r>
          </a:p>
          <a:p>
            <a:pPr marL="971550" lvl="1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Incidents with impaired drivers were converted to not impaired</a:t>
            </a: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Reducing Young Drivership</a:t>
            </a:r>
          </a:p>
          <a:p>
            <a:pPr marL="971550" lvl="1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20% of the incidents with drivers ages 25 and below were removed at random.</a:t>
            </a:r>
          </a:p>
        </p:txBody>
      </p:sp>
    </p:spTree>
    <p:extLst>
      <p:ext uri="{BB962C8B-B14F-4D97-AF65-F5344CB8AC3E}">
        <p14:creationId xmlns:p14="http://schemas.microsoft.com/office/powerpoint/2010/main" val="2075116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Results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7146D-268B-904E-85F5-1A299E3EF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3" r="5729"/>
          <a:stretch/>
        </p:blipFill>
        <p:spPr>
          <a:xfrm>
            <a:off x="1468581" y="1497958"/>
            <a:ext cx="9613900" cy="4620833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5996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Lowering the speed limits in 35/30 mph zones to 25/20 produces the greatest reduction in serious accidents.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FFFFFF"/>
                </a:solidFill>
              </a:rPr>
              <a:t>Possible causal: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Lower mph roads in general have more pedestrian traffic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It is well documented that that survivorship decreases drastically when comparing a 20 mph to 30 mph collision (5% compared to 45%)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512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372472-A28D-4A46-A417-C339E4A8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A6E07BD-D7EE-482F-A60D-431FAF26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1E098AAF-E08F-4026-A70E-1097D164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B71B-B685-2C40-BF1D-66BD9560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2BC90-4194-4C4B-B72F-BF2C6B02E37A}"/>
              </a:ext>
            </a:extLst>
          </p:cNvPr>
          <p:cNvSpPr txBox="1"/>
          <p:nvPr/>
        </p:nvSpPr>
        <p:spPr>
          <a:xfrm>
            <a:off x="838200" y="1860611"/>
            <a:ext cx="10665941" cy="415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Study examines overall characteristics of all accidents, not specific contingencies associated with specific intersections.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Many of the features were simplified for ease of training.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It was assumed that on a subset of demographics in NC at large are like the subset of demographics in Chapel Hill.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654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678</Words>
  <Application>Microsoft Macintosh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Reducing Serious Pedestrian Accidents in Chapel Hill, NC:   A Fictional North Carolina Pedestrian Crash Case Study</vt:lpstr>
      <vt:lpstr>General Accident Information in NC</vt:lpstr>
      <vt:lpstr>Pedestrian-Vehicle Accidents in NC</vt:lpstr>
      <vt:lpstr>Serious Accidents in NC</vt:lpstr>
      <vt:lpstr>Chapel Hill, North Carolina</vt:lpstr>
      <vt:lpstr>Pedestrian-Vehicle Accidents in NC</vt:lpstr>
      <vt:lpstr>PowerPoint Presentation</vt:lpstr>
      <vt:lpstr>Policies to Reduce Serious Accident Rate</vt:lpstr>
      <vt:lpstr>Method/Strategy</vt:lpstr>
      <vt:lpstr>Data Treatment</vt:lpstr>
      <vt:lpstr>Results: Gradient Boosting Classifier</vt:lpstr>
      <vt:lpstr>Proposed Policies and Prediction Implementation</vt:lpstr>
      <vt:lpstr>Proposed Policies and Prediction Implementation</vt:lpstr>
      <vt:lpstr>Results</vt:lpstr>
      <vt:lpstr>Recommendations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Serious Pedestrian Accidents in Chapel Hill, NC:   A Fictional North Carolina Pedestrian Crash Case Study</dc:title>
  <dc:creator>Geoffrey Chambers</dc:creator>
  <cp:lastModifiedBy>Geoffrey Chambers</cp:lastModifiedBy>
  <cp:revision>20</cp:revision>
  <dcterms:created xsi:type="dcterms:W3CDTF">2021-01-14T18:53:43Z</dcterms:created>
  <dcterms:modified xsi:type="dcterms:W3CDTF">2021-01-20T15:26:31Z</dcterms:modified>
</cp:coreProperties>
</file>